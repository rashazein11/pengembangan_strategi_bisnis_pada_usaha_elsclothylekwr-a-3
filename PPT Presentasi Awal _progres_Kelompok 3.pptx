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bril Fatface" charset="1" panose="02000503000000020003"/>
      <p:regular r:id="rId16"/>
    </p:embeddedFont>
    <p:embeddedFont>
      <p:font typeface="Georgia" charset="1" panose="02040502050405020303"/>
      <p:regular r:id="rId17"/>
    </p:embeddedFont>
    <p:embeddedFont>
      <p:font typeface="Georgia Bold" charset="1" panose="020408020504050202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9.png" Type="http://schemas.openxmlformats.org/officeDocument/2006/relationships/image"/><Relationship Id="rId6"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9.png" Type="http://schemas.openxmlformats.org/officeDocument/2006/relationships/image"/><Relationship Id="rId6"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9.png" Type="http://schemas.openxmlformats.org/officeDocument/2006/relationships/image"/><Relationship Id="rId6"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 Id="rId4" Target="../media/image7.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3231140" y="783307"/>
            <a:ext cx="8519680" cy="10905191"/>
          </a:xfrm>
          <a:custGeom>
            <a:avLst/>
            <a:gdLst/>
            <a:ahLst/>
            <a:cxnLst/>
            <a:rect r="r" b="b" t="t" l="l"/>
            <a:pathLst>
              <a:path h="10905191" w="8519680">
                <a:moveTo>
                  <a:pt x="0" y="0"/>
                </a:moveTo>
                <a:lnTo>
                  <a:pt x="8519680" y="0"/>
                </a:lnTo>
                <a:lnTo>
                  <a:pt x="8519680" y="10905191"/>
                </a:lnTo>
                <a:lnTo>
                  <a:pt x="0" y="10905191"/>
                </a:lnTo>
                <a:lnTo>
                  <a:pt x="0" y="0"/>
                </a:lnTo>
                <a:close/>
              </a:path>
            </a:pathLst>
          </a:custGeom>
          <a:blipFill>
            <a:blip r:embed="rId3"/>
            <a:stretch>
              <a:fillRect l="0" t="0" r="0" b="0"/>
            </a:stretch>
          </a:blipFill>
        </p:spPr>
      </p:sp>
      <p:sp>
        <p:nvSpPr>
          <p:cNvPr name="Freeform 4" id="4"/>
          <p:cNvSpPr/>
          <p:nvPr/>
        </p:nvSpPr>
        <p:spPr>
          <a:xfrm flipH="false" flipV="false" rot="0">
            <a:off x="14797988" y="7396361"/>
            <a:ext cx="3280941" cy="3456930"/>
          </a:xfrm>
          <a:custGeom>
            <a:avLst/>
            <a:gdLst/>
            <a:ahLst/>
            <a:cxnLst/>
            <a:rect r="r" b="b" t="t" l="l"/>
            <a:pathLst>
              <a:path h="3456930" w="3280941">
                <a:moveTo>
                  <a:pt x="0" y="0"/>
                </a:moveTo>
                <a:lnTo>
                  <a:pt x="3280941" y="0"/>
                </a:lnTo>
                <a:lnTo>
                  <a:pt x="3280941" y="3456931"/>
                </a:lnTo>
                <a:lnTo>
                  <a:pt x="0" y="34569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767472" y="9229725"/>
            <a:ext cx="8061032" cy="665469"/>
          </a:xfrm>
          <a:prstGeom prst="rect">
            <a:avLst/>
          </a:prstGeom>
        </p:spPr>
        <p:txBody>
          <a:bodyPr anchor="t" rtlCol="false" tIns="0" lIns="0" bIns="0" rIns="0">
            <a:spAutoFit/>
          </a:bodyPr>
          <a:lstStyle/>
          <a:p>
            <a:pPr algn="ctr">
              <a:lnSpc>
                <a:spcPts val="5364"/>
              </a:lnSpc>
            </a:pPr>
            <a:r>
              <a:rPr lang="en-US" sz="4190" spc="113">
                <a:solidFill>
                  <a:srgbClr val="FFFFFF"/>
                </a:solidFill>
                <a:latin typeface="Abril Fatface"/>
                <a:ea typeface="Abril Fatface"/>
                <a:cs typeface="Abril Fatface"/>
                <a:sym typeface="Abril Fatface"/>
              </a:rPr>
              <a:t>Presentasi Kelompok 3</a:t>
            </a:r>
          </a:p>
        </p:txBody>
      </p:sp>
      <p:sp>
        <p:nvSpPr>
          <p:cNvPr name="Freeform 6" id="6"/>
          <p:cNvSpPr/>
          <p:nvPr/>
        </p:nvSpPr>
        <p:spPr>
          <a:xfrm flipH="false" flipV="false" rot="0">
            <a:off x="14233712" y="-1734205"/>
            <a:ext cx="6051176" cy="4114800"/>
          </a:xfrm>
          <a:custGeom>
            <a:avLst/>
            <a:gdLst/>
            <a:ahLst/>
            <a:cxnLst/>
            <a:rect r="r" b="b" t="t" l="l"/>
            <a:pathLst>
              <a:path h="4114800" w="6051176">
                <a:moveTo>
                  <a:pt x="0" y="0"/>
                </a:moveTo>
                <a:lnTo>
                  <a:pt x="6051176" y="0"/>
                </a:lnTo>
                <a:lnTo>
                  <a:pt x="6051176"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2518811" y="2136522"/>
            <a:ext cx="13919647" cy="4667301"/>
          </a:xfrm>
          <a:prstGeom prst="rect">
            <a:avLst/>
          </a:prstGeom>
        </p:spPr>
        <p:txBody>
          <a:bodyPr anchor="t" rtlCol="false" tIns="0" lIns="0" bIns="0" rIns="0">
            <a:spAutoFit/>
          </a:bodyPr>
          <a:lstStyle/>
          <a:p>
            <a:pPr algn="ctr">
              <a:lnSpc>
                <a:spcPts val="9262"/>
              </a:lnSpc>
            </a:pPr>
            <a:r>
              <a:rPr lang="en-US" sz="7236" spc="195">
                <a:solidFill>
                  <a:srgbClr val="FFFFFF"/>
                </a:solidFill>
                <a:latin typeface="Abril Fatface"/>
                <a:ea typeface="Abril Fatface"/>
                <a:cs typeface="Abril Fatface"/>
                <a:sym typeface="Abril Fatface"/>
              </a:rPr>
              <a:t>PENGEMBANGAN STRATEGI BISNIS PADA USAHA ELSCLOTHYLE</a:t>
            </a:r>
          </a:p>
          <a:p>
            <a:pPr algn="ctr">
              <a:lnSpc>
                <a:spcPts val="9262"/>
              </a:lnSpc>
            </a:pPr>
          </a:p>
        </p:txBody>
      </p:sp>
      <p:sp>
        <p:nvSpPr>
          <p:cNvPr name="TextBox 8" id="8"/>
          <p:cNvSpPr txBox="true"/>
          <p:nvPr/>
        </p:nvSpPr>
        <p:spPr>
          <a:xfrm rot="0">
            <a:off x="3316210" y="5717306"/>
            <a:ext cx="11655581" cy="518597"/>
          </a:xfrm>
          <a:prstGeom prst="rect">
            <a:avLst/>
          </a:prstGeom>
        </p:spPr>
        <p:txBody>
          <a:bodyPr anchor="t" rtlCol="false" tIns="0" lIns="0" bIns="0" rIns="0">
            <a:spAutoFit/>
          </a:bodyPr>
          <a:lstStyle/>
          <a:p>
            <a:pPr algn="ctr">
              <a:lnSpc>
                <a:spcPts val="4264"/>
              </a:lnSpc>
            </a:pPr>
            <a:r>
              <a:rPr lang="en-US" sz="3332" spc="89">
                <a:solidFill>
                  <a:srgbClr val="FFFFFF"/>
                </a:solidFill>
                <a:latin typeface="Abril Fatface"/>
                <a:ea typeface="Abril Fatface"/>
                <a:cs typeface="Abril Fatface"/>
                <a:sym typeface="Abril Fatface"/>
              </a:rPr>
              <a:t>Dosen Pengampu : Adi Wahyu Pribadi, S.Si., M.Kom</a:t>
            </a:r>
          </a:p>
        </p:txBody>
      </p:sp>
      <p:sp>
        <p:nvSpPr>
          <p:cNvPr name="TextBox 9" id="9"/>
          <p:cNvSpPr txBox="true"/>
          <p:nvPr/>
        </p:nvSpPr>
        <p:spPr>
          <a:xfrm rot="0">
            <a:off x="5660360" y="6281222"/>
            <a:ext cx="6967279" cy="522602"/>
          </a:xfrm>
          <a:prstGeom prst="rect">
            <a:avLst/>
          </a:prstGeom>
        </p:spPr>
        <p:txBody>
          <a:bodyPr anchor="t" rtlCol="false" tIns="0" lIns="0" bIns="0" rIns="0">
            <a:spAutoFit/>
          </a:bodyPr>
          <a:lstStyle/>
          <a:p>
            <a:pPr algn="ctr">
              <a:lnSpc>
                <a:spcPts val="4000"/>
              </a:lnSpc>
            </a:pPr>
            <a:r>
              <a:rPr lang="en-US" sz="3125" spc="84">
                <a:solidFill>
                  <a:srgbClr val="FFFFFF"/>
                </a:solidFill>
                <a:latin typeface="Georgia"/>
                <a:ea typeface="Georgia"/>
                <a:cs typeface="Georgia"/>
                <a:sym typeface="Georgia"/>
              </a:rPr>
              <a:t>Mata Kuliah : Kewirausahaan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4797988" y="7396361"/>
            <a:ext cx="3280941" cy="3456930"/>
          </a:xfrm>
          <a:custGeom>
            <a:avLst/>
            <a:gdLst/>
            <a:ahLst/>
            <a:cxnLst/>
            <a:rect r="r" b="b" t="t" l="l"/>
            <a:pathLst>
              <a:path h="3456930" w="3280941">
                <a:moveTo>
                  <a:pt x="0" y="0"/>
                </a:moveTo>
                <a:lnTo>
                  <a:pt x="3280941" y="0"/>
                </a:lnTo>
                <a:lnTo>
                  <a:pt x="3280941" y="3456931"/>
                </a:lnTo>
                <a:lnTo>
                  <a:pt x="0" y="34569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412870" y="-1634293"/>
            <a:ext cx="6051176" cy="4114800"/>
          </a:xfrm>
          <a:custGeom>
            <a:avLst/>
            <a:gdLst/>
            <a:ahLst/>
            <a:cxnLst/>
            <a:rect r="r" b="b" t="t" l="l"/>
            <a:pathLst>
              <a:path h="4114800" w="6051176">
                <a:moveTo>
                  <a:pt x="0" y="0"/>
                </a:moveTo>
                <a:lnTo>
                  <a:pt x="6051177" y="0"/>
                </a:lnTo>
                <a:lnTo>
                  <a:pt x="6051177"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3475881" y="904875"/>
            <a:ext cx="10364133" cy="1122384"/>
          </a:xfrm>
          <a:prstGeom prst="rect">
            <a:avLst/>
          </a:prstGeom>
        </p:spPr>
        <p:txBody>
          <a:bodyPr anchor="t" rtlCol="false" tIns="0" lIns="0" bIns="0" rIns="0">
            <a:spAutoFit/>
          </a:bodyPr>
          <a:lstStyle/>
          <a:p>
            <a:pPr algn="ctr">
              <a:lnSpc>
                <a:spcPts val="9208"/>
              </a:lnSpc>
            </a:pPr>
            <a:r>
              <a:rPr lang="en-US" sz="6577">
                <a:solidFill>
                  <a:srgbClr val="FFFFFF"/>
                </a:solidFill>
                <a:latin typeface="Abril Fatface"/>
                <a:ea typeface="Abril Fatface"/>
                <a:cs typeface="Abril Fatface"/>
                <a:sym typeface="Abril Fatface"/>
              </a:rPr>
              <a:t>ANGGOTA KELOMPOK</a:t>
            </a:r>
          </a:p>
        </p:txBody>
      </p:sp>
      <p:sp>
        <p:nvSpPr>
          <p:cNvPr name="TextBox 6" id="6"/>
          <p:cNvSpPr txBox="true"/>
          <p:nvPr/>
        </p:nvSpPr>
        <p:spPr>
          <a:xfrm rot="0">
            <a:off x="10866332" y="2802869"/>
            <a:ext cx="3786949" cy="3508375"/>
          </a:xfrm>
          <a:prstGeom prst="rect">
            <a:avLst/>
          </a:prstGeom>
        </p:spPr>
        <p:txBody>
          <a:bodyPr anchor="t" rtlCol="false" tIns="0" lIns="0" bIns="0" rIns="0">
            <a:spAutoFit/>
          </a:bodyPr>
          <a:lstStyle/>
          <a:p>
            <a:pPr algn="ctr">
              <a:lnSpc>
                <a:spcPts val="5599"/>
              </a:lnSpc>
            </a:pPr>
            <a:r>
              <a:rPr lang="en-US" sz="3999">
                <a:solidFill>
                  <a:srgbClr val="FFFFFF"/>
                </a:solidFill>
                <a:latin typeface="Georgia"/>
                <a:ea typeface="Georgia"/>
                <a:cs typeface="Georgia"/>
                <a:sym typeface="Georgia"/>
              </a:rPr>
              <a:t>4525210042 </a:t>
            </a:r>
          </a:p>
          <a:p>
            <a:pPr algn="ctr">
              <a:lnSpc>
                <a:spcPts val="5599"/>
              </a:lnSpc>
            </a:pPr>
            <a:r>
              <a:rPr lang="en-US" sz="3999">
                <a:solidFill>
                  <a:srgbClr val="FFFFFF"/>
                </a:solidFill>
                <a:latin typeface="Georgia"/>
                <a:ea typeface="Georgia"/>
                <a:cs typeface="Georgia"/>
                <a:sym typeface="Georgia"/>
              </a:rPr>
              <a:t>4525210035 </a:t>
            </a:r>
          </a:p>
          <a:p>
            <a:pPr algn="ctr">
              <a:lnSpc>
                <a:spcPts val="5599"/>
              </a:lnSpc>
            </a:pPr>
            <a:r>
              <a:rPr lang="en-US" sz="3999">
                <a:solidFill>
                  <a:srgbClr val="FFFFFF"/>
                </a:solidFill>
                <a:latin typeface="Georgia"/>
                <a:ea typeface="Georgia"/>
                <a:cs typeface="Georgia"/>
                <a:sym typeface="Georgia"/>
              </a:rPr>
              <a:t>4524210029 </a:t>
            </a:r>
          </a:p>
          <a:p>
            <a:pPr algn="ctr">
              <a:lnSpc>
                <a:spcPts val="5599"/>
              </a:lnSpc>
            </a:pPr>
            <a:r>
              <a:rPr lang="en-US" sz="3999">
                <a:solidFill>
                  <a:srgbClr val="FFFFFF"/>
                </a:solidFill>
                <a:latin typeface="Georgia"/>
                <a:ea typeface="Georgia"/>
                <a:cs typeface="Georgia"/>
                <a:sym typeface="Georgia"/>
              </a:rPr>
              <a:t>4524210030</a:t>
            </a:r>
          </a:p>
          <a:p>
            <a:pPr algn="ctr">
              <a:lnSpc>
                <a:spcPts val="5599"/>
              </a:lnSpc>
            </a:pPr>
            <a:r>
              <a:rPr lang="en-US" sz="3999">
                <a:solidFill>
                  <a:srgbClr val="FFFFFF"/>
                </a:solidFill>
                <a:latin typeface="Georgia"/>
                <a:ea typeface="Georgia"/>
                <a:cs typeface="Georgia"/>
                <a:sym typeface="Georgia"/>
              </a:rPr>
              <a:t>4524210090 </a:t>
            </a:r>
          </a:p>
        </p:txBody>
      </p:sp>
      <p:sp>
        <p:nvSpPr>
          <p:cNvPr name="TextBox 7" id="7"/>
          <p:cNvSpPr txBox="true"/>
          <p:nvPr/>
        </p:nvSpPr>
        <p:spPr>
          <a:xfrm rot="0">
            <a:off x="2889229" y="2802869"/>
            <a:ext cx="5235951" cy="3415871"/>
          </a:xfrm>
          <a:prstGeom prst="rect">
            <a:avLst/>
          </a:prstGeom>
        </p:spPr>
        <p:txBody>
          <a:bodyPr anchor="t" rtlCol="false" tIns="0" lIns="0" bIns="0" rIns="0">
            <a:spAutoFit/>
          </a:bodyPr>
          <a:lstStyle/>
          <a:p>
            <a:pPr algn="l">
              <a:lnSpc>
                <a:spcPts val="5494"/>
              </a:lnSpc>
              <a:spcBef>
                <a:spcPct val="0"/>
              </a:spcBef>
            </a:pPr>
            <a:r>
              <a:rPr lang="en-US" sz="3924" spc="105">
                <a:solidFill>
                  <a:srgbClr val="FFFFFF"/>
                </a:solidFill>
                <a:latin typeface="Georgia"/>
                <a:ea typeface="Georgia"/>
                <a:cs typeface="Georgia"/>
                <a:sym typeface="Georgia"/>
              </a:rPr>
              <a:t>Muhamad Rasha Zein</a:t>
            </a:r>
          </a:p>
          <a:p>
            <a:pPr algn="l">
              <a:lnSpc>
                <a:spcPts val="5494"/>
              </a:lnSpc>
              <a:spcBef>
                <a:spcPct val="0"/>
              </a:spcBef>
            </a:pPr>
            <a:r>
              <a:rPr lang="en-US" sz="3924" spc="105">
                <a:solidFill>
                  <a:srgbClr val="FFFFFF"/>
                </a:solidFill>
                <a:latin typeface="Georgia"/>
                <a:ea typeface="Georgia"/>
                <a:cs typeface="Georgia"/>
                <a:sym typeface="Georgia"/>
              </a:rPr>
              <a:t>Khairul Adam Efendi</a:t>
            </a:r>
          </a:p>
          <a:p>
            <a:pPr algn="l">
              <a:lnSpc>
                <a:spcPts val="5494"/>
              </a:lnSpc>
              <a:spcBef>
                <a:spcPct val="0"/>
              </a:spcBef>
            </a:pPr>
            <a:r>
              <a:rPr lang="en-US" sz="3924" spc="105">
                <a:solidFill>
                  <a:srgbClr val="FFFFFF"/>
                </a:solidFill>
                <a:latin typeface="Georgia"/>
                <a:ea typeface="Georgia"/>
                <a:cs typeface="Georgia"/>
                <a:sym typeface="Georgia"/>
              </a:rPr>
              <a:t>Dzikrullah Surachman</a:t>
            </a:r>
          </a:p>
          <a:p>
            <a:pPr algn="l">
              <a:lnSpc>
                <a:spcPts val="5494"/>
              </a:lnSpc>
              <a:spcBef>
                <a:spcPct val="0"/>
              </a:spcBef>
            </a:pPr>
            <a:r>
              <a:rPr lang="en-US" sz="3924" spc="105">
                <a:solidFill>
                  <a:srgbClr val="FFFFFF"/>
                </a:solidFill>
                <a:latin typeface="Georgia"/>
                <a:ea typeface="Georgia"/>
                <a:cs typeface="Georgia"/>
                <a:sym typeface="Georgia"/>
              </a:rPr>
              <a:t>Elsa Setia Marcsa</a:t>
            </a:r>
          </a:p>
          <a:p>
            <a:pPr algn="l">
              <a:lnSpc>
                <a:spcPts val="5494"/>
              </a:lnSpc>
              <a:spcBef>
                <a:spcPct val="0"/>
              </a:spcBef>
            </a:pPr>
            <a:r>
              <a:rPr lang="en-US" sz="3924" spc="105">
                <a:solidFill>
                  <a:srgbClr val="FFFFFF"/>
                </a:solidFill>
                <a:latin typeface="Georgia"/>
                <a:ea typeface="Georgia"/>
                <a:cs typeface="Georgia"/>
                <a:sym typeface="Georgia"/>
              </a:rPr>
              <a:t>Ririn Verdawati</a:t>
            </a:r>
          </a:p>
        </p:txBody>
      </p:sp>
      <p:sp>
        <p:nvSpPr>
          <p:cNvPr name="TextBox 8" id="8"/>
          <p:cNvSpPr txBox="true"/>
          <p:nvPr/>
        </p:nvSpPr>
        <p:spPr>
          <a:xfrm rot="0">
            <a:off x="6935615" y="6950839"/>
            <a:ext cx="4416770" cy="1062496"/>
          </a:xfrm>
          <a:prstGeom prst="rect">
            <a:avLst/>
          </a:prstGeom>
        </p:spPr>
        <p:txBody>
          <a:bodyPr anchor="t" rtlCol="false" tIns="0" lIns="0" bIns="0" rIns="0">
            <a:spAutoFit/>
          </a:bodyPr>
          <a:lstStyle/>
          <a:p>
            <a:pPr algn="l">
              <a:lnSpc>
                <a:spcPts val="8707"/>
              </a:lnSpc>
              <a:spcBef>
                <a:spcPct val="0"/>
              </a:spcBef>
            </a:pPr>
            <a:r>
              <a:rPr lang="en-US" sz="6219" spc="167">
                <a:solidFill>
                  <a:srgbClr val="FFFFFF"/>
                </a:solidFill>
                <a:latin typeface="Georgia"/>
                <a:ea typeface="Georgia"/>
                <a:cs typeface="Georgia"/>
                <a:sym typeface="Georgia"/>
              </a:rPr>
              <a:t>Kelompok 3</a:t>
            </a:r>
          </a:p>
        </p:txBody>
      </p:sp>
      <p:sp>
        <p:nvSpPr>
          <p:cNvPr name="Freeform 9" id="9"/>
          <p:cNvSpPr/>
          <p:nvPr/>
        </p:nvSpPr>
        <p:spPr>
          <a:xfrm flipH="false" flipV="false" rot="0">
            <a:off x="14950388" y="7548761"/>
            <a:ext cx="3280941" cy="3456930"/>
          </a:xfrm>
          <a:custGeom>
            <a:avLst/>
            <a:gdLst/>
            <a:ahLst/>
            <a:cxnLst/>
            <a:rect r="r" b="b" t="t" l="l"/>
            <a:pathLst>
              <a:path h="3456930" w="3280941">
                <a:moveTo>
                  <a:pt x="0" y="0"/>
                </a:moveTo>
                <a:lnTo>
                  <a:pt x="3280941" y="0"/>
                </a:lnTo>
                <a:lnTo>
                  <a:pt x="3280941" y="3456931"/>
                </a:lnTo>
                <a:lnTo>
                  <a:pt x="0" y="34569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5147372" y="358691"/>
            <a:ext cx="2668919" cy="1638049"/>
          </a:xfrm>
          <a:custGeom>
            <a:avLst/>
            <a:gdLst/>
            <a:ahLst/>
            <a:cxnLst/>
            <a:rect r="r" b="b" t="t" l="l"/>
            <a:pathLst>
              <a:path h="1638049" w="2668919">
                <a:moveTo>
                  <a:pt x="0" y="0"/>
                </a:moveTo>
                <a:lnTo>
                  <a:pt x="2668919" y="0"/>
                </a:lnTo>
                <a:lnTo>
                  <a:pt x="2668919" y="1638049"/>
                </a:lnTo>
                <a:lnTo>
                  <a:pt x="0" y="1638049"/>
                </a:lnTo>
                <a:lnTo>
                  <a:pt x="0" y="0"/>
                </a:lnTo>
                <a:close/>
              </a:path>
            </a:pathLst>
          </a:custGeom>
          <a:blipFill>
            <a:blip r:embed="rId3"/>
            <a:stretch>
              <a:fillRect l="0" t="0" r="0" b="0"/>
            </a:stretch>
          </a:blipFill>
        </p:spPr>
      </p:sp>
      <p:sp>
        <p:nvSpPr>
          <p:cNvPr name="TextBox 4" id="4"/>
          <p:cNvSpPr txBox="true"/>
          <p:nvPr/>
        </p:nvSpPr>
        <p:spPr>
          <a:xfrm rot="0">
            <a:off x="4218373" y="720389"/>
            <a:ext cx="9851254" cy="2600325"/>
          </a:xfrm>
          <a:prstGeom prst="rect">
            <a:avLst/>
          </a:prstGeom>
        </p:spPr>
        <p:txBody>
          <a:bodyPr anchor="t" rtlCol="false" tIns="0" lIns="0" bIns="0" rIns="0">
            <a:spAutoFit/>
          </a:bodyPr>
          <a:lstStyle/>
          <a:p>
            <a:pPr algn="ctr">
              <a:lnSpc>
                <a:spcPts val="10499"/>
              </a:lnSpc>
            </a:pPr>
            <a:r>
              <a:rPr lang="en-US" sz="7499" spc="202">
                <a:solidFill>
                  <a:srgbClr val="FFFFFF"/>
                </a:solidFill>
                <a:latin typeface="Abril Fatface"/>
                <a:ea typeface="Abril Fatface"/>
                <a:cs typeface="Abril Fatface"/>
                <a:sym typeface="Abril Fatface"/>
              </a:rPr>
              <a:t>Profil Usaha</a:t>
            </a:r>
          </a:p>
          <a:p>
            <a:pPr algn="ctr">
              <a:lnSpc>
                <a:spcPts val="10499"/>
              </a:lnSpc>
            </a:pPr>
          </a:p>
        </p:txBody>
      </p:sp>
      <p:sp>
        <p:nvSpPr>
          <p:cNvPr name="TextBox 5" id="5"/>
          <p:cNvSpPr txBox="true"/>
          <p:nvPr/>
        </p:nvSpPr>
        <p:spPr>
          <a:xfrm rot="0">
            <a:off x="3202447" y="2189471"/>
            <a:ext cx="12759897" cy="5384027"/>
          </a:xfrm>
          <a:prstGeom prst="rect">
            <a:avLst/>
          </a:prstGeom>
        </p:spPr>
        <p:txBody>
          <a:bodyPr anchor="t" rtlCol="false" tIns="0" lIns="0" bIns="0" rIns="0">
            <a:spAutoFit/>
          </a:bodyPr>
          <a:lstStyle/>
          <a:p>
            <a:pPr algn="just">
              <a:lnSpc>
                <a:spcPts val="4755"/>
              </a:lnSpc>
              <a:spcBef>
                <a:spcPct val="0"/>
              </a:spcBef>
            </a:pPr>
            <a:r>
              <a:rPr lang="en-US" sz="3396" spc="91">
                <a:solidFill>
                  <a:srgbClr val="FFFFFF"/>
                </a:solidFill>
                <a:latin typeface="Georgia"/>
                <a:ea typeface="Georgia"/>
                <a:cs typeface="Georgia"/>
                <a:sym typeface="Georgia"/>
              </a:rPr>
              <a:t>Elsclothyl</a:t>
            </a:r>
            <a:r>
              <a:rPr lang="en-US" sz="3396" spc="91">
                <a:solidFill>
                  <a:srgbClr val="FFFFFF"/>
                </a:solidFill>
                <a:latin typeface="Georgia"/>
                <a:ea typeface="Georgia"/>
                <a:cs typeface="Georgia"/>
                <a:sym typeface="Georgia"/>
              </a:rPr>
              <a:t>e</a:t>
            </a:r>
          </a:p>
          <a:p>
            <a:pPr algn="l" marL="733394" indent="-366697" lvl="1">
              <a:lnSpc>
                <a:spcPts val="4755"/>
              </a:lnSpc>
              <a:buFont typeface="Arial"/>
              <a:buChar char="•"/>
            </a:pPr>
            <a:r>
              <a:rPr lang="en-US" sz="3396" spc="91">
                <a:solidFill>
                  <a:srgbClr val="FFFFFF"/>
                </a:solidFill>
                <a:latin typeface="Georgia"/>
                <a:ea typeface="Georgia"/>
                <a:cs typeface="Georgia"/>
                <a:sym typeface="Georgia"/>
              </a:rPr>
              <a:t>Jenis Usaha: Fashion / Pakaian</a:t>
            </a:r>
          </a:p>
          <a:p>
            <a:pPr algn="l" marL="733394" indent="-366697" lvl="1">
              <a:lnSpc>
                <a:spcPts val="4755"/>
              </a:lnSpc>
              <a:buFont typeface="Arial"/>
              <a:buChar char="•"/>
            </a:pPr>
            <a:r>
              <a:rPr lang="en-US" sz="3396" spc="91">
                <a:solidFill>
                  <a:srgbClr val="FFFFFF"/>
                </a:solidFill>
                <a:latin typeface="Georgia"/>
                <a:ea typeface="Georgia"/>
                <a:cs typeface="Georgia"/>
                <a:sym typeface="Georgia"/>
              </a:rPr>
              <a:t>Sistem Penjualan: Online dan Live Selling</a:t>
            </a:r>
          </a:p>
          <a:p>
            <a:pPr algn="l" marL="733394" indent="-366697" lvl="1">
              <a:lnSpc>
                <a:spcPts val="4755"/>
              </a:lnSpc>
              <a:buFont typeface="Arial"/>
              <a:buChar char="•"/>
            </a:pPr>
            <a:r>
              <a:rPr lang="en-US" sz="3396" spc="91">
                <a:solidFill>
                  <a:srgbClr val="FFFFFF"/>
                </a:solidFill>
                <a:latin typeface="Georgia"/>
                <a:ea typeface="Georgia"/>
                <a:cs typeface="Georgia"/>
                <a:sym typeface="Georgia"/>
              </a:rPr>
              <a:t>Toko Offline: Belum tersedia</a:t>
            </a:r>
          </a:p>
          <a:p>
            <a:pPr algn="just">
              <a:lnSpc>
                <a:spcPts val="4755"/>
              </a:lnSpc>
              <a:spcBef>
                <a:spcPct val="0"/>
              </a:spcBef>
            </a:pPr>
            <a:r>
              <a:rPr lang="en-US" sz="3396" spc="91">
                <a:solidFill>
                  <a:srgbClr val="FFFFFF"/>
                </a:solidFill>
                <a:latin typeface="Georgia"/>
                <a:ea typeface="Georgia"/>
                <a:cs typeface="Georgia"/>
                <a:sym typeface="Georgia"/>
              </a:rPr>
              <a:t>Elsclothyle merupakan usaha fashion yang menjalankan penjualan secara online dan melalui live selling.</a:t>
            </a:r>
          </a:p>
          <a:p>
            <a:pPr algn="just">
              <a:lnSpc>
                <a:spcPts val="4755"/>
              </a:lnSpc>
              <a:spcBef>
                <a:spcPct val="0"/>
              </a:spcBef>
            </a:pPr>
            <a:r>
              <a:rPr lang="en-US" sz="3396" spc="91">
                <a:solidFill>
                  <a:srgbClr val="FFFFFF"/>
                </a:solidFill>
                <a:latin typeface="Georgia"/>
                <a:ea typeface="Georgia"/>
                <a:cs typeface="Georgia"/>
                <a:sym typeface="Georgia"/>
              </a:rPr>
              <a:t>Proyek ini berfokus pada pengembangan usaha yang sudah berjalan melalui identifikasi masalah dan pencarian peluang bisnis.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590971" y="1028700"/>
            <a:ext cx="9106058" cy="47625"/>
          </a:xfrm>
          <a:custGeom>
            <a:avLst/>
            <a:gdLst/>
            <a:ahLst/>
            <a:cxnLst/>
            <a:rect r="r" b="b" t="t" l="l"/>
            <a:pathLst>
              <a:path h="47625" w="9106058">
                <a:moveTo>
                  <a:pt x="0" y="0"/>
                </a:moveTo>
                <a:lnTo>
                  <a:pt x="9106058" y="0"/>
                </a:lnTo>
                <a:lnTo>
                  <a:pt x="9106058" y="47625"/>
                </a:lnTo>
                <a:lnTo>
                  <a:pt x="0" y="47625"/>
                </a:lnTo>
                <a:lnTo>
                  <a:pt x="0" y="0"/>
                </a:lnTo>
                <a:close/>
              </a:path>
            </a:pathLst>
          </a:custGeom>
          <a:blipFill>
            <a:blip r:embed="rId3"/>
            <a:stretch>
              <a:fillRect l="0" t="0" r="0" b="-17180000"/>
            </a:stretch>
          </a:blipFill>
        </p:spPr>
      </p:sp>
      <p:sp>
        <p:nvSpPr>
          <p:cNvPr name="TextBox 4" id="4"/>
          <p:cNvSpPr txBox="true"/>
          <p:nvPr/>
        </p:nvSpPr>
        <p:spPr>
          <a:xfrm rot="0">
            <a:off x="3784357" y="1654645"/>
            <a:ext cx="12008778" cy="1184275"/>
          </a:xfrm>
          <a:prstGeom prst="rect">
            <a:avLst/>
          </a:prstGeom>
        </p:spPr>
        <p:txBody>
          <a:bodyPr anchor="t" rtlCol="false" tIns="0" lIns="0" bIns="0" rIns="0">
            <a:spAutoFit/>
          </a:bodyPr>
          <a:lstStyle/>
          <a:p>
            <a:pPr algn="ctr">
              <a:lnSpc>
                <a:spcPts val="9799"/>
              </a:lnSpc>
            </a:pPr>
            <a:r>
              <a:rPr lang="en-US" sz="6999" spc="188">
                <a:solidFill>
                  <a:srgbClr val="FFFFFF"/>
                </a:solidFill>
                <a:latin typeface="Abril Fatface"/>
                <a:ea typeface="Abril Fatface"/>
                <a:cs typeface="Abril Fatface"/>
                <a:sym typeface="Abril Fatface"/>
              </a:rPr>
              <a:t>Latar Belakang</a:t>
            </a:r>
          </a:p>
        </p:txBody>
      </p:sp>
      <p:sp>
        <p:nvSpPr>
          <p:cNvPr name="Freeform 5" id="5"/>
          <p:cNvSpPr/>
          <p:nvPr/>
        </p:nvSpPr>
        <p:spPr>
          <a:xfrm flipH="false" flipV="false" rot="0">
            <a:off x="-2285499" y="2181335"/>
            <a:ext cx="6051648" cy="10616926"/>
          </a:xfrm>
          <a:custGeom>
            <a:avLst/>
            <a:gdLst/>
            <a:ahLst/>
            <a:cxnLst/>
            <a:rect r="r" b="b" t="t" l="l"/>
            <a:pathLst>
              <a:path h="10616926" w="6051648">
                <a:moveTo>
                  <a:pt x="0" y="0"/>
                </a:moveTo>
                <a:lnTo>
                  <a:pt x="6051648" y="0"/>
                </a:lnTo>
                <a:lnTo>
                  <a:pt x="6051648" y="10616926"/>
                </a:lnTo>
                <a:lnTo>
                  <a:pt x="0" y="10616926"/>
                </a:lnTo>
                <a:lnTo>
                  <a:pt x="0" y="0"/>
                </a:lnTo>
                <a:close/>
              </a:path>
            </a:pathLst>
          </a:custGeom>
          <a:blipFill>
            <a:blip r:embed="rId4"/>
            <a:stretch>
              <a:fillRect l="0" t="0" r="0" b="0"/>
            </a:stretch>
          </a:blipFill>
        </p:spPr>
      </p:sp>
      <p:sp>
        <p:nvSpPr>
          <p:cNvPr name="Freeform 6" id="6"/>
          <p:cNvSpPr/>
          <p:nvPr/>
        </p:nvSpPr>
        <p:spPr>
          <a:xfrm flipH="false" flipV="false" rot="0">
            <a:off x="15147372" y="358691"/>
            <a:ext cx="2668919" cy="1638049"/>
          </a:xfrm>
          <a:custGeom>
            <a:avLst/>
            <a:gdLst/>
            <a:ahLst/>
            <a:cxnLst/>
            <a:rect r="r" b="b" t="t" l="l"/>
            <a:pathLst>
              <a:path h="1638049" w="2668919">
                <a:moveTo>
                  <a:pt x="0" y="0"/>
                </a:moveTo>
                <a:lnTo>
                  <a:pt x="2668919" y="0"/>
                </a:lnTo>
                <a:lnTo>
                  <a:pt x="2668919" y="1638049"/>
                </a:lnTo>
                <a:lnTo>
                  <a:pt x="0" y="1638049"/>
                </a:lnTo>
                <a:lnTo>
                  <a:pt x="0" y="0"/>
                </a:lnTo>
                <a:close/>
              </a:path>
            </a:pathLst>
          </a:custGeom>
          <a:blipFill>
            <a:blip r:embed="rId5"/>
            <a:stretch>
              <a:fillRect l="0" t="0" r="0" b="0"/>
            </a:stretch>
          </a:blipFill>
        </p:spPr>
      </p:sp>
      <p:sp>
        <p:nvSpPr>
          <p:cNvPr name="TextBox 7" id="7"/>
          <p:cNvSpPr txBox="true"/>
          <p:nvPr/>
        </p:nvSpPr>
        <p:spPr>
          <a:xfrm rot="0">
            <a:off x="2280568" y="3161149"/>
            <a:ext cx="15016355" cy="5239122"/>
          </a:xfrm>
          <a:prstGeom prst="rect">
            <a:avLst/>
          </a:prstGeom>
        </p:spPr>
        <p:txBody>
          <a:bodyPr anchor="t" rtlCol="false" tIns="0" lIns="0" bIns="0" rIns="0">
            <a:spAutoFit/>
          </a:bodyPr>
          <a:lstStyle/>
          <a:p>
            <a:pPr algn="just">
              <a:lnSpc>
                <a:spcPts val="5229"/>
              </a:lnSpc>
            </a:pPr>
            <a:r>
              <a:rPr lang="en-US" sz="3735">
                <a:solidFill>
                  <a:srgbClr val="FFFFFF"/>
                </a:solidFill>
                <a:latin typeface="Georgia"/>
                <a:ea typeface="Georgia"/>
                <a:cs typeface="Georgia"/>
                <a:sym typeface="Georgia"/>
              </a:rPr>
              <a:t>Pengemb</a:t>
            </a:r>
            <a:r>
              <a:rPr lang="en-US" sz="3735">
                <a:solidFill>
                  <a:srgbClr val="FFFFFF"/>
                </a:solidFill>
                <a:latin typeface="Georgia"/>
                <a:ea typeface="Georgia"/>
                <a:cs typeface="Georgia"/>
                <a:sym typeface="Georgia"/>
              </a:rPr>
              <a:t>angan bisnis tidak selalu harus dimulai dengan membuat usaha baru. Usaha yang sudah berjalan juga dapat dikembangkan dengan menemukan masalah dan peluang perbaikan.</a:t>
            </a:r>
          </a:p>
          <a:p>
            <a:pPr algn="just">
              <a:lnSpc>
                <a:spcPts val="5229"/>
              </a:lnSpc>
            </a:pPr>
          </a:p>
          <a:p>
            <a:pPr algn="just">
              <a:lnSpc>
                <a:spcPts val="5229"/>
              </a:lnSpc>
            </a:pPr>
            <a:r>
              <a:rPr lang="en-US" sz="3735">
                <a:solidFill>
                  <a:srgbClr val="FFFFFF"/>
                </a:solidFill>
                <a:latin typeface="Georgia"/>
                <a:ea typeface="Georgia"/>
                <a:cs typeface="Georgia"/>
                <a:sym typeface="Georgia"/>
              </a:rPr>
              <a:t>Elsclothyle dipilih karena memiliki kegiatan bisnis mulai dari promosi, live selling, penerimaan pesanan, packing, hingga pengiriman.</a:t>
            </a:r>
          </a:p>
          <a:p>
            <a:pPr algn="just">
              <a:lnSpc>
                <a:spcPts val="5229"/>
              </a:lnSpc>
            </a:pPr>
            <a:r>
              <a:rPr lang="en-US" sz="3735">
                <a:solidFill>
                  <a:srgbClr val="FFFFFF"/>
                </a:solidFill>
                <a:latin typeface="Georgia"/>
                <a:ea typeface="Georgia"/>
                <a:cs typeface="Georgia"/>
                <a:sym typeface="Georgia"/>
              </a:rPr>
              <a:t>Melalui wawancara, kelompok berusaha menemukan kendala nyata untuk menentukan strategi pengembangan bisnis yang sesuai.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4344247" y="1110411"/>
            <a:ext cx="11255859" cy="1276350"/>
          </a:xfrm>
          <a:prstGeom prst="rect">
            <a:avLst/>
          </a:prstGeom>
        </p:spPr>
        <p:txBody>
          <a:bodyPr anchor="t" rtlCol="false" tIns="0" lIns="0" bIns="0" rIns="0">
            <a:spAutoFit/>
          </a:bodyPr>
          <a:lstStyle/>
          <a:p>
            <a:pPr algn="ctr">
              <a:lnSpc>
                <a:spcPts val="10499"/>
              </a:lnSpc>
            </a:pPr>
            <a:r>
              <a:rPr lang="en-US" sz="7499" spc="202">
                <a:solidFill>
                  <a:srgbClr val="FFFFFF"/>
                </a:solidFill>
                <a:latin typeface="Abril Fatface"/>
                <a:ea typeface="Abril Fatface"/>
                <a:cs typeface="Abril Fatface"/>
                <a:sym typeface="Abril Fatface"/>
              </a:rPr>
              <a:t>Hasil dan Narasumber</a:t>
            </a:r>
          </a:p>
        </p:txBody>
      </p:sp>
      <p:sp>
        <p:nvSpPr>
          <p:cNvPr name="Freeform 4" id="4"/>
          <p:cNvSpPr/>
          <p:nvPr/>
        </p:nvSpPr>
        <p:spPr>
          <a:xfrm flipH="false" flipV="false" rot="0">
            <a:off x="-2677647" y="1996740"/>
            <a:ext cx="6051648" cy="10616926"/>
          </a:xfrm>
          <a:custGeom>
            <a:avLst/>
            <a:gdLst/>
            <a:ahLst/>
            <a:cxnLst/>
            <a:rect r="r" b="b" t="t" l="l"/>
            <a:pathLst>
              <a:path h="10616926" w="6051648">
                <a:moveTo>
                  <a:pt x="0" y="0"/>
                </a:moveTo>
                <a:lnTo>
                  <a:pt x="6051647" y="0"/>
                </a:lnTo>
                <a:lnTo>
                  <a:pt x="6051647" y="10616926"/>
                </a:lnTo>
                <a:lnTo>
                  <a:pt x="0" y="10616926"/>
                </a:lnTo>
                <a:lnTo>
                  <a:pt x="0" y="0"/>
                </a:lnTo>
                <a:close/>
              </a:path>
            </a:pathLst>
          </a:custGeom>
          <a:blipFill>
            <a:blip r:embed="rId3"/>
            <a:stretch>
              <a:fillRect l="0" t="0" r="0" b="0"/>
            </a:stretch>
          </a:blipFill>
        </p:spPr>
      </p:sp>
      <p:sp>
        <p:nvSpPr>
          <p:cNvPr name="Freeform 5" id="5"/>
          <p:cNvSpPr/>
          <p:nvPr/>
        </p:nvSpPr>
        <p:spPr>
          <a:xfrm flipH="false" flipV="false" rot="0">
            <a:off x="15147372" y="358691"/>
            <a:ext cx="2668919" cy="1638049"/>
          </a:xfrm>
          <a:custGeom>
            <a:avLst/>
            <a:gdLst/>
            <a:ahLst/>
            <a:cxnLst/>
            <a:rect r="r" b="b" t="t" l="l"/>
            <a:pathLst>
              <a:path h="1638049" w="2668919">
                <a:moveTo>
                  <a:pt x="0" y="0"/>
                </a:moveTo>
                <a:lnTo>
                  <a:pt x="2668919" y="0"/>
                </a:lnTo>
                <a:lnTo>
                  <a:pt x="2668919" y="1638049"/>
                </a:lnTo>
                <a:lnTo>
                  <a:pt x="0" y="1638049"/>
                </a:lnTo>
                <a:lnTo>
                  <a:pt x="0" y="0"/>
                </a:lnTo>
                <a:close/>
              </a:path>
            </a:pathLst>
          </a:custGeom>
          <a:blipFill>
            <a:blip r:embed="rId4"/>
            <a:stretch>
              <a:fillRect l="0" t="0" r="0" b="0"/>
            </a:stretch>
          </a:blipFill>
        </p:spPr>
      </p:sp>
      <p:graphicFrame>
        <p:nvGraphicFramePr>
          <p:cNvPr name="Table 6" id="6"/>
          <p:cNvGraphicFramePr>
            <a:graphicFrameLocks noGrp="true"/>
          </p:cNvGraphicFramePr>
          <p:nvPr/>
        </p:nvGraphicFramePr>
        <p:xfrm>
          <a:off x="2899363" y="2858773"/>
          <a:ext cx="14576030" cy="6810375"/>
        </p:xfrm>
        <a:graphic>
          <a:graphicData uri="http://schemas.openxmlformats.org/drawingml/2006/table">
            <a:tbl>
              <a:tblPr/>
              <a:tblGrid>
                <a:gridCol w="3017087"/>
                <a:gridCol w="11558943"/>
              </a:tblGrid>
              <a:tr h="1024909">
                <a:tc>
                  <a:txBody>
                    <a:bodyPr anchor="t" rtlCol="false"/>
                    <a:lstStyle/>
                    <a:p>
                      <a:pPr algn="ctr">
                        <a:lnSpc>
                          <a:spcPts val="3919"/>
                        </a:lnSpc>
                        <a:defRPr/>
                      </a:pPr>
                      <a:r>
                        <a:rPr lang="en-US" sz="2799" b="true">
                          <a:solidFill>
                            <a:srgbClr val="FFFFFF"/>
                          </a:solidFill>
                          <a:latin typeface="Georgia Bold"/>
                          <a:ea typeface="Georgia Bold"/>
                          <a:cs typeface="Georgia Bold"/>
                          <a:sym typeface="Georgia Bold"/>
                        </a:rPr>
                        <a:t>Narasumber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3919"/>
                        </a:lnSpc>
                        <a:defRPr/>
                      </a:pPr>
                      <a:r>
                        <a:rPr lang="en-US" sz="2799" b="true">
                          <a:solidFill>
                            <a:srgbClr val="FFFFFF"/>
                          </a:solidFill>
                          <a:latin typeface="Georgia Bold"/>
                          <a:ea typeface="Georgia Bold"/>
                          <a:cs typeface="Georgia Bold"/>
                          <a:sym typeface="Georgia Bold"/>
                        </a:rPr>
                        <a:t>Hasil</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57859">
                <a:tc>
                  <a:txBody>
                    <a:bodyPr anchor="t" rtlCol="false"/>
                    <a:lstStyle/>
                    <a:p>
                      <a:pPr algn="ctr">
                        <a:lnSpc>
                          <a:spcPts val="3919"/>
                        </a:lnSpc>
                        <a:defRPr/>
                      </a:pPr>
                      <a:r>
                        <a:rPr lang="en-US" sz="2799">
                          <a:solidFill>
                            <a:srgbClr val="FFFFFF"/>
                          </a:solidFill>
                          <a:latin typeface="Georgia"/>
                          <a:ea typeface="Georgia"/>
                          <a:cs typeface="Georgia"/>
                          <a:sym typeface="Georgia"/>
                        </a:rPr>
                        <a:t>Host live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919"/>
                        </a:lnSpc>
                        <a:defRPr/>
                      </a:pPr>
                      <a:r>
                        <a:rPr lang="en-US" sz="2799">
                          <a:solidFill>
                            <a:srgbClr val="FFFFFF"/>
                          </a:solidFill>
                          <a:latin typeface="Georgia"/>
                          <a:ea typeface="Georgia"/>
                          <a:cs typeface="Georgia"/>
                          <a:sym typeface="Georgia"/>
                        </a:rPr>
                        <a:t>Sulit mengetahui stok saat live dan harus bertanya kepada admin.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455945">
                <a:tc>
                  <a:txBody>
                    <a:bodyPr anchor="t" rtlCol="false"/>
                    <a:lstStyle/>
                    <a:p>
                      <a:pPr algn="ctr">
                        <a:lnSpc>
                          <a:spcPts val="3919"/>
                        </a:lnSpc>
                        <a:defRPr/>
                      </a:pPr>
                      <a:r>
                        <a:rPr lang="en-US" sz="2799">
                          <a:solidFill>
                            <a:srgbClr val="FFFFFF"/>
                          </a:solidFill>
                          <a:latin typeface="Georgia"/>
                          <a:ea typeface="Georgia"/>
                          <a:cs typeface="Georgia"/>
                          <a:sym typeface="Georgia"/>
                        </a:rPr>
                        <a:t>Admin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919"/>
                        </a:lnSpc>
                        <a:defRPr/>
                      </a:pPr>
                      <a:r>
                        <a:rPr lang="en-US" sz="2799">
                          <a:solidFill>
                            <a:srgbClr val="FFFFFF"/>
                          </a:solidFill>
                          <a:latin typeface="Georgia"/>
                          <a:ea typeface="Georgia"/>
                          <a:cs typeface="Georgia"/>
                          <a:sym typeface="Georgia"/>
                        </a:rPr>
                        <a:t>Banyak chat masuk bersamaan dan pengecekan stok membutuhkan waktu.</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57859">
                <a:tc>
                  <a:txBody>
                    <a:bodyPr anchor="t" rtlCol="false"/>
                    <a:lstStyle/>
                    <a:p>
                      <a:pPr algn="ctr">
                        <a:lnSpc>
                          <a:spcPts val="3919"/>
                        </a:lnSpc>
                        <a:defRPr/>
                      </a:pPr>
                      <a:r>
                        <a:rPr lang="en-US" sz="2799">
                          <a:solidFill>
                            <a:srgbClr val="FFFFFF"/>
                          </a:solidFill>
                          <a:latin typeface="Georgia"/>
                          <a:ea typeface="Georgia"/>
                          <a:cs typeface="Georgia"/>
                          <a:sym typeface="Georgia"/>
                        </a:rPr>
                        <a:t>Packing</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919"/>
                        </a:lnSpc>
                        <a:defRPr/>
                      </a:pPr>
                      <a:r>
                        <a:rPr lang="en-US" sz="2799">
                          <a:solidFill>
                            <a:srgbClr val="FFFFFF"/>
                          </a:solidFill>
                          <a:latin typeface="Georgia"/>
                          <a:ea typeface="Georgia"/>
                          <a:cs typeface="Georgia"/>
                          <a:sym typeface="Georgia"/>
                        </a:rPr>
                        <a:t>Risiko salah ukuran, warna, atau kode saat pesanan ramai.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1455945">
                <a:tc>
                  <a:txBody>
                    <a:bodyPr anchor="t" rtlCol="false"/>
                    <a:lstStyle/>
                    <a:p>
                      <a:pPr algn="ctr">
                        <a:lnSpc>
                          <a:spcPts val="3919"/>
                        </a:lnSpc>
                        <a:defRPr/>
                      </a:pPr>
                      <a:r>
                        <a:rPr lang="en-US" sz="2799">
                          <a:solidFill>
                            <a:srgbClr val="FFFFFF"/>
                          </a:solidFill>
                          <a:latin typeface="Georgia"/>
                          <a:ea typeface="Georgia"/>
                          <a:cs typeface="Georgia"/>
                          <a:sym typeface="Georgia"/>
                        </a:rPr>
                        <a:t>Kurir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919"/>
                        </a:lnSpc>
                        <a:defRPr/>
                      </a:pPr>
                      <a:r>
                        <a:rPr lang="en-US" sz="2799">
                          <a:solidFill>
                            <a:srgbClr val="FFFFFF"/>
                          </a:solidFill>
                          <a:latin typeface="Georgia"/>
                          <a:ea typeface="Georgia"/>
                          <a:cs typeface="Georgia"/>
                          <a:sym typeface="Georgia"/>
                        </a:rPr>
                        <a:t>Pengecekan barang masuk dan alamat pengiriman membutuhkan waktu.</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957859">
                <a:tc>
                  <a:txBody>
                    <a:bodyPr anchor="t" rtlCol="false"/>
                    <a:lstStyle/>
                    <a:p>
                      <a:pPr algn="ctr">
                        <a:lnSpc>
                          <a:spcPts val="3919"/>
                        </a:lnSpc>
                        <a:defRPr/>
                      </a:pPr>
                      <a:r>
                        <a:rPr lang="en-US" sz="2799">
                          <a:solidFill>
                            <a:srgbClr val="FFFFFF"/>
                          </a:solidFill>
                          <a:latin typeface="Georgia"/>
                          <a:ea typeface="Georgia"/>
                          <a:cs typeface="Georgia"/>
                          <a:sym typeface="Georgia"/>
                        </a:rPr>
                        <a:t>Customer</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l">
                        <a:lnSpc>
                          <a:spcPts val="3919"/>
                        </a:lnSpc>
                        <a:defRPr/>
                      </a:pPr>
                      <a:r>
                        <a:rPr lang="en-US" sz="2799">
                          <a:solidFill>
                            <a:srgbClr val="FFFFFF"/>
                          </a:solidFill>
                          <a:latin typeface="Georgia"/>
                          <a:ea typeface="Georgia"/>
                          <a:cs typeface="Georgia"/>
                          <a:sym typeface="Georgia"/>
                        </a:rPr>
                        <a:t>Kesulitan mengetahui stok dan mendapatkan barang saat live ramai.</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7013834">
            <a:off x="-855508" y="3304447"/>
            <a:ext cx="1295327" cy="1140949"/>
          </a:xfrm>
          <a:custGeom>
            <a:avLst/>
            <a:gdLst/>
            <a:ahLst/>
            <a:cxnLst/>
            <a:rect r="r" b="b" t="t" l="l"/>
            <a:pathLst>
              <a:path h="1140949" w="1295327">
                <a:moveTo>
                  <a:pt x="0" y="0"/>
                </a:moveTo>
                <a:lnTo>
                  <a:pt x="1295327" y="0"/>
                </a:lnTo>
                <a:lnTo>
                  <a:pt x="1295327" y="1140949"/>
                </a:lnTo>
                <a:lnTo>
                  <a:pt x="0" y="11409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2411237" y="2634627"/>
            <a:ext cx="14454888" cy="6938347"/>
          </a:xfrm>
          <a:prstGeom prst="rect">
            <a:avLst/>
          </a:prstGeom>
        </p:spPr>
        <p:txBody>
          <a:bodyPr anchor="t" rtlCol="false" tIns="0" lIns="0" bIns="0" rIns="0">
            <a:spAutoFit/>
          </a:bodyPr>
          <a:lstStyle/>
          <a:p>
            <a:pPr algn="l">
              <a:lnSpc>
                <a:spcPts val="5546"/>
              </a:lnSpc>
            </a:pPr>
            <a:r>
              <a:rPr lang="en-US" sz="3961">
                <a:solidFill>
                  <a:srgbClr val="FFFFFF"/>
                </a:solidFill>
                <a:latin typeface="Georgia"/>
                <a:ea typeface="Georgia"/>
                <a:cs typeface="Georgia"/>
                <a:sym typeface="Georgia"/>
              </a:rPr>
              <a:t>Pertanyaan yang Ingin Kami Selesaikan</a:t>
            </a:r>
          </a:p>
          <a:p>
            <a:pPr algn="l" marL="855335" indent="-427667" lvl="1">
              <a:lnSpc>
                <a:spcPts val="5546"/>
              </a:lnSpc>
              <a:buFont typeface="Arial"/>
              <a:buChar char="•"/>
            </a:pPr>
            <a:r>
              <a:rPr lang="en-US" sz="3961">
                <a:solidFill>
                  <a:srgbClr val="FFFFFF"/>
                </a:solidFill>
                <a:latin typeface="Georgia"/>
                <a:ea typeface="Georgia"/>
                <a:cs typeface="Georgia"/>
                <a:sym typeface="Georgia"/>
              </a:rPr>
              <a:t>Bagaimana pengelolaan stok barang pada usaha Elsclothyle saat ini?</a:t>
            </a:r>
          </a:p>
          <a:p>
            <a:pPr algn="l" marL="855335" indent="-427667" lvl="1">
              <a:lnSpc>
                <a:spcPts val="5546"/>
              </a:lnSpc>
              <a:buFont typeface="Arial"/>
              <a:buChar char="•"/>
            </a:pPr>
            <a:r>
              <a:rPr lang="en-US" sz="3961">
                <a:solidFill>
                  <a:srgbClr val="FFFFFF"/>
                </a:solidFill>
                <a:latin typeface="Georgia"/>
                <a:ea typeface="Georgia"/>
                <a:cs typeface="Georgia"/>
                <a:sym typeface="Georgia"/>
              </a:rPr>
              <a:t>Apa kendala yang terjadi dalam penyampaian informasi stok kepada host live, admin, dan customer?</a:t>
            </a:r>
          </a:p>
          <a:p>
            <a:pPr algn="l" marL="855335" indent="-427667" lvl="1">
              <a:lnSpc>
                <a:spcPts val="5546"/>
              </a:lnSpc>
              <a:buFont typeface="Arial"/>
              <a:buChar char="•"/>
            </a:pPr>
            <a:r>
              <a:rPr lang="en-US" sz="3961">
                <a:solidFill>
                  <a:srgbClr val="FFFFFF"/>
                </a:solidFill>
                <a:latin typeface="Georgia"/>
                <a:ea typeface="Georgia"/>
                <a:cs typeface="Georgia"/>
                <a:sym typeface="Georgia"/>
              </a:rPr>
              <a:t>Bagaimana strategi pengembangan bisnis yang dapat meningkatkan efisiensi pengelolaan stok dan pelayanan customer?</a:t>
            </a:r>
          </a:p>
          <a:p>
            <a:pPr algn="l" marL="855335" indent="-427667" lvl="1">
              <a:lnSpc>
                <a:spcPts val="5546"/>
              </a:lnSpc>
              <a:buFont typeface="Arial"/>
              <a:buChar char="•"/>
            </a:pPr>
            <a:r>
              <a:rPr lang="en-US" sz="3961">
                <a:solidFill>
                  <a:srgbClr val="FFFFFF"/>
                </a:solidFill>
                <a:latin typeface="Georgia"/>
                <a:ea typeface="Georgia"/>
                <a:cs typeface="Georgia"/>
                <a:sym typeface="Georgia"/>
              </a:rPr>
              <a:t>Bagaimana solusi berbasis website dapat membantu kegiatan operasional Elsclothyle?</a:t>
            </a:r>
          </a:p>
        </p:txBody>
      </p:sp>
      <p:sp>
        <p:nvSpPr>
          <p:cNvPr name="TextBox 5" id="5"/>
          <p:cNvSpPr txBox="true"/>
          <p:nvPr/>
        </p:nvSpPr>
        <p:spPr>
          <a:xfrm rot="0">
            <a:off x="4961506" y="1034840"/>
            <a:ext cx="9039674" cy="1276350"/>
          </a:xfrm>
          <a:prstGeom prst="rect">
            <a:avLst/>
          </a:prstGeom>
        </p:spPr>
        <p:txBody>
          <a:bodyPr anchor="t" rtlCol="false" tIns="0" lIns="0" bIns="0" rIns="0">
            <a:spAutoFit/>
          </a:bodyPr>
          <a:lstStyle/>
          <a:p>
            <a:pPr algn="ctr">
              <a:lnSpc>
                <a:spcPts val="10499"/>
              </a:lnSpc>
            </a:pPr>
            <a:r>
              <a:rPr lang="en-US" sz="7499" spc="202">
                <a:solidFill>
                  <a:srgbClr val="FFFFFF"/>
                </a:solidFill>
                <a:latin typeface="Abril Fatface"/>
                <a:ea typeface="Abril Fatface"/>
                <a:cs typeface="Abril Fatface"/>
                <a:sym typeface="Abril Fatface"/>
              </a:rPr>
              <a:t>Rumusan Masalah</a:t>
            </a:r>
          </a:p>
        </p:txBody>
      </p:sp>
      <p:sp>
        <p:nvSpPr>
          <p:cNvPr name="Freeform 6" id="6"/>
          <p:cNvSpPr/>
          <p:nvPr/>
        </p:nvSpPr>
        <p:spPr>
          <a:xfrm flipH="false" flipV="false" rot="0">
            <a:off x="-1009602" y="5450966"/>
            <a:ext cx="3666535" cy="6432518"/>
          </a:xfrm>
          <a:custGeom>
            <a:avLst/>
            <a:gdLst/>
            <a:ahLst/>
            <a:cxnLst/>
            <a:rect r="r" b="b" t="t" l="l"/>
            <a:pathLst>
              <a:path h="6432518" w="3666535">
                <a:moveTo>
                  <a:pt x="0" y="0"/>
                </a:moveTo>
                <a:lnTo>
                  <a:pt x="3666535" y="0"/>
                </a:lnTo>
                <a:lnTo>
                  <a:pt x="3666535" y="6432518"/>
                </a:lnTo>
                <a:lnTo>
                  <a:pt x="0" y="6432518"/>
                </a:lnTo>
                <a:lnTo>
                  <a:pt x="0" y="0"/>
                </a:lnTo>
                <a:close/>
              </a:path>
            </a:pathLst>
          </a:custGeom>
          <a:blipFill>
            <a:blip r:embed="rId5"/>
            <a:stretch>
              <a:fillRect l="0" t="0" r="0" b="0"/>
            </a:stretch>
          </a:blipFill>
        </p:spPr>
      </p:sp>
      <p:sp>
        <p:nvSpPr>
          <p:cNvPr name="Freeform 7" id="7"/>
          <p:cNvSpPr/>
          <p:nvPr/>
        </p:nvSpPr>
        <p:spPr>
          <a:xfrm flipH="false" flipV="false" rot="0">
            <a:off x="15147372" y="358691"/>
            <a:ext cx="2668919" cy="1638049"/>
          </a:xfrm>
          <a:custGeom>
            <a:avLst/>
            <a:gdLst/>
            <a:ahLst/>
            <a:cxnLst/>
            <a:rect r="r" b="b" t="t" l="l"/>
            <a:pathLst>
              <a:path h="1638049" w="2668919">
                <a:moveTo>
                  <a:pt x="0" y="0"/>
                </a:moveTo>
                <a:lnTo>
                  <a:pt x="2668919" y="0"/>
                </a:lnTo>
                <a:lnTo>
                  <a:pt x="2668919" y="1638049"/>
                </a:lnTo>
                <a:lnTo>
                  <a:pt x="0" y="1638049"/>
                </a:lnTo>
                <a:lnTo>
                  <a:pt x="0" y="0"/>
                </a:lnTo>
                <a:close/>
              </a:path>
            </a:pathLst>
          </a:custGeom>
          <a:blipFill>
            <a:blip r:embed="rId6"/>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3308517" y="1287127"/>
            <a:ext cx="12426341" cy="1276350"/>
          </a:xfrm>
          <a:prstGeom prst="rect">
            <a:avLst/>
          </a:prstGeom>
        </p:spPr>
        <p:txBody>
          <a:bodyPr anchor="t" rtlCol="false" tIns="0" lIns="0" bIns="0" rIns="0">
            <a:spAutoFit/>
          </a:bodyPr>
          <a:lstStyle/>
          <a:p>
            <a:pPr algn="ctr">
              <a:lnSpc>
                <a:spcPts val="10499"/>
              </a:lnSpc>
            </a:pPr>
            <a:r>
              <a:rPr lang="en-US" sz="7499" spc="202">
                <a:solidFill>
                  <a:srgbClr val="FFFFFF"/>
                </a:solidFill>
                <a:latin typeface="Abril Fatface"/>
                <a:ea typeface="Abril Fatface"/>
                <a:cs typeface="Abril Fatface"/>
                <a:sym typeface="Abril Fatface"/>
              </a:rPr>
              <a:t>Tujuan Proyek</a:t>
            </a:r>
          </a:p>
        </p:txBody>
      </p:sp>
      <p:sp>
        <p:nvSpPr>
          <p:cNvPr name="Freeform 4" id="4"/>
          <p:cNvSpPr/>
          <p:nvPr/>
        </p:nvSpPr>
        <p:spPr>
          <a:xfrm flipH="false" flipV="false" rot="0">
            <a:off x="-1707401" y="1820024"/>
            <a:ext cx="6051648" cy="10616926"/>
          </a:xfrm>
          <a:custGeom>
            <a:avLst/>
            <a:gdLst/>
            <a:ahLst/>
            <a:cxnLst/>
            <a:rect r="r" b="b" t="t" l="l"/>
            <a:pathLst>
              <a:path h="10616926" w="6051648">
                <a:moveTo>
                  <a:pt x="0" y="0"/>
                </a:moveTo>
                <a:lnTo>
                  <a:pt x="6051648" y="0"/>
                </a:lnTo>
                <a:lnTo>
                  <a:pt x="6051648" y="10616926"/>
                </a:lnTo>
                <a:lnTo>
                  <a:pt x="0" y="10616926"/>
                </a:lnTo>
                <a:lnTo>
                  <a:pt x="0" y="0"/>
                </a:lnTo>
                <a:close/>
              </a:path>
            </a:pathLst>
          </a:custGeom>
          <a:blipFill>
            <a:blip r:embed="rId3"/>
            <a:stretch>
              <a:fillRect l="0" t="0" r="0" b="0"/>
            </a:stretch>
          </a:blipFill>
        </p:spPr>
      </p:sp>
      <p:sp>
        <p:nvSpPr>
          <p:cNvPr name="TextBox 5" id="5"/>
          <p:cNvSpPr txBox="true"/>
          <p:nvPr/>
        </p:nvSpPr>
        <p:spPr>
          <a:xfrm rot="0">
            <a:off x="3308517" y="2801219"/>
            <a:ext cx="13584642" cy="5392673"/>
          </a:xfrm>
          <a:prstGeom prst="rect">
            <a:avLst/>
          </a:prstGeom>
        </p:spPr>
        <p:txBody>
          <a:bodyPr anchor="t" rtlCol="false" tIns="0" lIns="0" bIns="0" rIns="0">
            <a:spAutoFit/>
          </a:bodyPr>
          <a:lstStyle/>
          <a:p>
            <a:pPr algn="l" marL="827523" indent="-413761" lvl="1">
              <a:lnSpc>
                <a:spcPts val="5366"/>
              </a:lnSpc>
              <a:buFont typeface="Arial"/>
              <a:buChar char="•"/>
            </a:pPr>
            <a:r>
              <a:rPr lang="en-US" sz="3832">
                <a:solidFill>
                  <a:srgbClr val="FFFFFF"/>
                </a:solidFill>
                <a:latin typeface="Georgia"/>
                <a:ea typeface="Georgia"/>
                <a:cs typeface="Georgia"/>
                <a:sym typeface="Georgia"/>
              </a:rPr>
              <a:t>Mengidentifikasi masalah dalam kegiatan bisnis Elsclothyle.</a:t>
            </a:r>
          </a:p>
          <a:p>
            <a:pPr algn="l" marL="827523" indent="-413761" lvl="1">
              <a:lnSpc>
                <a:spcPts val="5366"/>
              </a:lnSpc>
              <a:buFont typeface="Arial"/>
              <a:buChar char="•"/>
            </a:pPr>
            <a:r>
              <a:rPr lang="en-US" sz="3832">
                <a:solidFill>
                  <a:srgbClr val="FFFFFF"/>
                </a:solidFill>
                <a:latin typeface="Georgia"/>
                <a:ea typeface="Georgia"/>
                <a:cs typeface="Georgia"/>
                <a:sym typeface="Georgia"/>
              </a:rPr>
              <a:t>Mengetahui kebutuhan dan kendala pihak yang terlibat.</a:t>
            </a:r>
          </a:p>
          <a:p>
            <a:pPr algn="l" marL="827523" indent="-413761" lvl="1">
              <a:lnSpc>
                <a:spcPts val="5366"/>
              </a:lnSpc>
              <a:buFont typeface="Arial"/>
              <a:buChar char="•"/>
            </a:pPr>
            <a:r>
              <a:rPr lang="en-US" sz="3832">
                <a:solidFill>
                  <a:srgbClr val="FFFFFF"/>
                </a:solidFill>
                <a:latin typeface="Georgia"/>
                <a:ea typeface="Georgia"/>
                <a:cs typeface="Georgia"/>
                <a:sym typeface="Georgia"/>
              </a:rPr>
              <a:t>Menentukan masalah utama yang berdampak terhadap bisnis.</a:t>
            </a:r>
          </a:p>
          <a:p>
            <a:pPr algn="l" marL="827523" indent="-413761" lvl="1">
              <a:lnSpc>
                <a:spcPts val="5366"/>
              </a:lnSpc>
              <a:buFont typeface="Arial"/>
              <a:buChar char="•"/>
            </a:pPr>
            <a:r>
              <a:rPr lang="en-US" sz="3832">
                <a:solidFill>
                  <a:srgbClr val="FFFFFF"/>
                </a:solidFill>
                <a:latin typeface="Georgia"/>
                <a:ea typeface="Georgia"/>
                <a:cs typeface="Georgia"/>
                <a:sym typeface="Georgia"/>
              </a:rPr>
              <a:t>Menemukan peluang pengembangan usaha.</a:t>
            </a:r>
          </a:p>
          <a:p>
            <a:pPr algn="l" marL="827523" indent="-413761" lvl="1">
              <a:lnSpc>
                <a:spcPts val="5366"/>
              </a:lnSpc>
              <a:buFont typeface="Arial"/>
              <a:buChar char="•"/>
            </a:pPr>
            <a:r>
              <a:rPr lang="en-US" sz="3832">
                <a:solidFill>
                  <a:srgbClr val="FFFFFF"/>
                </a:solidFill>
                <a:latin typeface="Georgia"/>
                <a:ea typeface="Georgia"/>
                <a:cs typeface="Georgia"/>
                <a:sym typeface="Georgia"/>
              </a:rPr>
              <a:t>Menyusun strategi bisnis berdasarkan hasil wawancara.</a:t>
            </a:r>
          </a:p>
          <a:p>
            <a:pPr algn="l" marL="827523" indent="-413761" lvl="1">
              <a:lnSpc>
                <a:spcPts val="5366"/>
              </a:lnSpc>
              <a:buFont typeface="Arial"/>
              <a:buChar char="•"/>
            </a:pPr>
            <a:r>
              <a:rPr lang="en-US" sz="3832">
                <a:solidFill>
                  <a:srgbClr val="FFFFFF"/>
                </a:solidFill>
                <a:latin typeface="Georgia"/>
                <a:ea typeface="Georgia"/>
                <a:cs typeface="Georgia"/>
                <a:sym typeface="Georgia"/>
              </a:rPr>
              <a:t>Merancang dan menguji solusi yang sesuai.</a:t>
            </a:r>
          </a:p>
        </p:txBody>
      </p:sp>
      <p:sp>
        <p:nvSpPr>
          <p:cNvPr name="Freeform 6" id="6"/>
          <p:cNvSpPr/>
          <p:nvPr/>
        </p:nvSpPr>
        <p:spPr>
          <a:xfrm flipH="false" flipV="false" rot="0">
            <a:off x="15147372" y="358691"/>
            <a:ext cx="2668919" cy="1638049"/>
          </a:xfrm>
          <a:custGeom>
            <a:avLst/>
            <a:gdLst/>
            <a:ahLst/>
            <a:cxnLst/>
            <a:rect r="r" b="b" t="t" l="l"/>
            <a:pathLst>
              <a:path h="1638049" w="2668919">
                <a:moveTo>
                  <a:pt x="0" y="0"/>
                </a:moveTo>
                <a:lnTo>
                  <a:pt x="2668919" y="0"/>
                </a:lnTo>
                <a:lnTo>
                  <a:pt x="2668919" y="1638049"/>
                </a:lnTo>
                <a:lnTo>
                  <a:pt x="0" y="1638049"/>
                </a:lnTo>
                <a:lnTo>
                  <a:pt x="0" y="0"/>
                </a:lnTo>
                <a:close/>
              </a:path>
            </a:pathLst>
          </a:custGeom>
          <a:blipFill>
            <a:blip r:embed="rId4"/>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7142861">
            <a:off x="2591393" y="9905988"/>
            <a:ext cx="1888996" cy="1663864"/>
          </a:xfrm>
          <a:custGeom>
            <a:avLst/>
            <a:gdLst/>
            <a:ahLst/>
            <a:cxnLst/>
            <a:rect r="r" b="b" t="t" l="l"/>
            <a:pathLst>
              <a:path h="1663864" w="1888996">
                <a:moveTo>
                  <a:pt x="0" y="0"/>
                </a:moveTo>
                <a:lnTo>
                  <a:pt x="1888996" y="0"/>
                </a:lnTo>
                <a:lnTo>
                  <a:pt x="1888996" y="1663864"/>
                </a:lnTo>
                <a:lnTo>
                  <a:pt x="0" y="1663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981693" y="1110411"/>
            <a:ext cx="8713993" cy="1276350"/>
          </a:xfrm>
          <a:prstGeom prst="rect">
            <a:avLst/>
          </a:prstGeom>
        </p:spPr>
        <p:txBody>
          <a:bodyPr anchor="t" rtlCol="false" tIns="0" lIns="0" bIns="0" rIns="0">
            <a:spAutoFit/>
          </a:bodyPr>
          <a:lstStyle/>
          <a:p>
            <a:pPr algn="ctr">
              <a:lnSpc>
                <a:spcPts val="10499"/>
              </a:lnSpc>
            </a:pPr>
            <a:r>
              <a:rPr lang="en-US" sz="7499" spc="202">
                <a:solidFill>
                  <a:srgbClr val="FFFFFF"/>
                </a:solidFill>
                <a:latin typeface="Abril Fatface"/>
                <a:ea typeface="Abril Fatface"/>
                <a:cs typeface="Abril Fatface"/>
                <a:sym typeface="Abril Fatface"/>
              </a:rPr>
              <a:t>solusi</a:t>
            </a:r>
          </a:p>
        </p:txBody>
      </p:sp>
      <p:sp>
        <p:nvSpPr>
          <p:cNvPr name="TextBox 5" id="5"/>
          <p:cNvSpPr txBox="true"/>
          <p:nvPr/>
        </p:nvSpPr>
        <p:spPr>
          <a:xfrm rot="0">
            <a:off x="3214727" y="2392251"/>
            <a:ext cx="14313112" cy="7116040"/>
          </a:xfrm>
          <a:prstGeom prst="rect">
            <a:avLst/>
          </a:prstGeom>
        </p:spPr>
        <p:txBody>
          <a:bodyPr anchor="t" rtlCol="false" tIns="0" lIns="0" bIns="0" rIns="0">
            <a:spAutoFit/>
          </a:bodyPr>
          <a:lstStyle/>
          <a:p>
            <a:pPr algn="l">
              <a:lnSpc>
                <a:spcPts val="5118"/>
              </a:lnSpc>
            </a:pPr>
            <a:r>
              <a:rPr lang="en-US" sz="3655">
                <a:solidFill>
                  <a:srgbClr val="FFFFFF"/>
                </a:solidFill>
                <a:latin typeface="Georgia"/>
                <a:ea typeface="Georgia"/>
                <a:cs typeface="Georgia"/>
                <a:sym typeface="Georgia"/>
              </a:rPr>
              <a:t>Membuat website pendukung pengelolaan </a:t>
            </a:r>
            <a:r>
              <a:rPr lang="en-US" sz="3655">
                <a:solidFill>
                  <a:srgbClr val="FFFFFF"/>
                </a:solidFill>
                <a:latin typeface="Georgia"/>
                <a:ea typeface="Georgia"/>
                <a:cs typeface="Georgia"/>
                <a:sym typeface="Georgia"/>
              </a:rPr>
              <a:t>stok Elsclothyle yang memudahkan admin dan host live dalam melihat serta memperbarui informasi produk secara terpusat.</a:t>
            </a:r>
          </a:p>
          <a:p>
            <a:pPr algn="l">
              <a:lnSpc>
                <a:spcPts val="5118"/>
              </a:lnSpc>
            </a:pPr>
            <a:r>
              <a:rPr lang="en-US" sz="3655">
                <a:solidFill>
                  <a:srgbClr val="FFFFFF"/>
                </a:solidFill>
                <a:latin typeface="Georgia"/>
                <a:ea typeface="Georgia"/>
                <a:cs typeface="Georgia"/>
                <a:sym typeface="Georgia"/>
              </a:rPr>
              <a:t>Fitur utama:</a:t>
            </a:r>
          </a:p>
          <a:p>
            <a:pPr algn="l" marL="789315" indent="-394657" lvl="1">
              <a:lnSpc>
                <a:spcPts val="5118"/>
              </a:lnSpc>
              <a:buFont typeface="Arial"/>
              <a:buChar char="•"/>
            </a:pPr>
            <a:r>
              <a:rPr lang="en-US" sz="3655">
                <a:solidFill>
                  <a:srgbClr val="FFFFFF"/>
                </a:solidFill>
                <a:latin typeface="Georgia"/>
                <a:ea typeface="Georgia"/>
                <a:cs typeface="Georgia"/>
                <a:sym typeface="Georgia"/>
              </a:rPr>
              <a:t>Data produk dan stok.</a:t>
            </a:r>
          </a:p>
          <a:p>
            <a:pPr algn="l" marL="789315" indent="-394657" lvl="1">
              <a:lnSpc>
                <a:spcPts val="5118"/>
              </a:lnSpc>
              <a:buFont typeface="Arial"/>
              <a:buChar char="•"/>
            </a:pPr>
            <a:r>
              <a:rPr lang="en-US" sz="3655">
                <a:solidFill>
                  <a:srgbClr val="FFFFFF"/>
                </a:solidFill>
                <a:latin typeface="Georgia"/>
                <a:ea typeface="Georgia"/>
                <a:cs typeface="Georgia"/>
                <a:sym typeface="Georgia"/>
              </a:rPr>
              <a:t>Pembaruan stok barang.</a:t>
            </a:r>
          </a:p>
          <a:p>
            <a:pPr algn="l" marL="789315" indent="-394657" lvl="1">
              <a:lnSpc>
                <a:spcPts val="5118"/>
              </a:lnSpc>
              <a:buFont typeface="Arial"/>
              <a:buChar char="•"/>
            </a:pPr>
            <a:r>
              <a:rPr lang="en-US" sz="3655">
                <a:solidFill>
                  <a:srgbClr val="FFFFFF"/>
                </a:solidFill>
                <a:latin typeface="Georgia"/>
                <a:ea typeface="Georgia"/>
                <a:cs typeface="Georgia"/>
                <a:sym typeface="Georgia"/>
              </a:rPr>
              <a:t>Pengecekan stok secara real-time.</a:t>
            </a:r>
          </a:p>
          <a:p>
            <a:pPr algn="l" marL="789315" indent="-394657" lvl="1">
              <a:lnSpc>
                <a:spcPts val="5118"/>
              </a:lnSpc>
              <a:buFont typeface="Arial"/>
              <a:buChar char="•"/>
            </a:pPr>
            <a:r>
              <a:rPr lang="en-US" sz="3655">
                <a:solidFill>
                  <a:srgbClr val="FFFFFF"/>
                </a:solidFill>
                <a:latin typeface="Georgia"/>
                <a:ea typeface="Georgia"/>
                <a:cs typeface="Georgia"/>
                <a:sym typeface="Georgia"/>
              </a:rPr>
              <a:t>Pencatatan pesanan.</a:t>
            </a:r>
          </a:p>
          <a:p>
            <a:pPr algn="l" marL="789315" indent="-394657" lvl="1">
              <a:lnSpc>
                <a:spcPts val="5118"/>
              </a:lnSpc>
              <a:buFont typeface="Arial"/>
              <a:buChar char="•"/>
            </a:pPr>
            <a:r>
              <a:rPr lang="en-US" sz="3655">
                <a:solidFill>
                  <a:srgbClr val="FFFFFF"/>
                </a:solidFill>
                <a:latin typeface="Georgia"/>
                <a:ea typeface="Georgia"/>
                <a:cs typeface="Georgia"/>
                <a:sym typeface="Georgia"/>
              </a:rPr>
              <a:t>Informasi ketersediaan produk.</a:t>
            </a:r>
          </a:p>
          <a:p>
            <a:pPr algn="l">
              <a:lnSpc>
                <a:spcPts val="5118"/>
              </a:lnSpc>
            </a:pPr>
            <a:r>
              <a:rPr lang="en-US" sz="3655">
                <a:solidFill>
                  <a:srgbClr val="FFFFFF"/>
                </a:solidFill>
                <a:latin typeface="Georgia"/>
                <a:ea typeface="Georgia"/>
                <a:cs typeface="Georgia"/>
                <a:sym typeface="Georgia"/>
              </a:rPr>
              <a:t>Tujuannya untuk meningkatkan efisiensi operasional, mempercepat pelayanan customer, dan mengurangi kesalahan pesanan.</a:t>
            </a:r>
          </a:p>
        </p:txBody>
      </p:sp>
      <p:sp>
        <p:nvSpPr>
          <p:cNvPr name="Freeform 6" id="6"/>
          <p:cNvSpPr/>
          <p:nvPr/>
        </p:nvSpPr>
        <p:spPr>
          <a:xfrm flipH="false" flipV="false" rot="0">
            <a:off x="-2548469" y="1996740"/>
            <a:ext cx="6051648" cy="10616926"/>
          </a:xfrm>
          <a:custGeom>
            <a:avLst/>
            <a:gdLst/>
            <a:ahLst/>
            <a:cxnLst/>
            <a:rect r="r" b="b" t="t" l="l"/>
            <a:pathLst>
              <a:path h="10616926" w="6051648">
                <a:moveTo>
                  <a:pt x="0" y="0"/>
                </a:moveTo>
                <a:lnTo>
                  <a:pt x="6051647" y="0"/>
                </a:lnTo>
                <a:lnTo>
                  <a:pt x="6051647" y="10616926"/>
                </a:lnTo>
                <a:lnTo>
                  <a:pt x="0" y="10616926"/>
                </a:lnTo>
                <a:lnTo>
                  <a:pt x="0" y="0"/>
                </a:lnTo>
                <a:close/>
              </a:path>
            </a:pathLst>
          </a:custGeom>
          <a:blipFill>
            <a:blip r:embed="rId5"/>
            <a:stretch>
              <a:fillRect l="0" t="0" r="0" b="0"/>
            </a:stretch>
          </a:blipFill>
        </p:spPr>
      </p:sp>
      <p:sp>
        <p:nvSpPr>
          <p:cNvPr name="Freeform 7" id="7"/>
          <p:cNvSpPr/>
          <p:nvPr/>
        </p:nvSpPr>
        <p:spPr>
          <a:xfrm flipH="false" flipV="false" rot="0">
            <a:off x="15147372" y="358691"/>
            <a:ext cx="2668919" cy="1638049"/>
          </a:xfrm>
          <a:custGeom>
            <a:avLst/>
            <a:gdLst/>
            <a:ahLst/>
            <a:cxnLst/>
            <a:rect r="r" b="b" t="t" l="l"/>
            <a:pathLst>
              <a:path h="1638049" w="2668919">
                <a:moveTo>
                  <a:pt x="0" y="0"/>
                </a:moveTo>
                <a:lnTo>
                  <a:pt x="2668919" y="0"/>
                </a:lnTo>
                <a:lnTo>
                  <a:pt x="2668919" y="1638049"/>
                </a:lnTo>
                <a:lnTo>
                  <a:pt x="0" y="1638049"/>
                </a:lnTo>
                <a:lnTo>
                  <a:pt x="0" y="0"/>
                </a:lnTo>
                <a:close/>
              </a:path>
            </a:pathLst>
          </a:custGeom>
          <a:blipFill>
            <a:blip r:embed="rId6"/>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3478853" y="2101196"/>
            <a:ext cx="13002978" cy="5380703"/>
          </a:xfrm>
          <a:prstGeom prst="rect">
            <a:avLst/>
          </a:prstGeom>
        </p:spPr>
        <p:txBody>
          <a:bodyPr anchor="t" rtlCol="false" tIns="0" lIns="0" bIns="0" rIns="0">
            <a:spAutoFit/>
          </a:bodyPr>
          <a:lstStyle/>
          <a:p>
            <a:pPr algn="r">
              <a:lnSpc>
                <a:spcPts val="4775"/>
              </a:lnSpc>
            </a:pPr>
          </a:p>
          <a:p>
            <a:pPr algn="just">
              <a:lnSpc>
                <a:spcPts val="4775"/>
              </a:lnSpc>
            </a:pPr>
            <a:r>
              <a:rPr lang="en-US" sz="3411">
                <a:solidFill>
                  <a:srgbClr val="FFFFFF"/>
                </a:solidFill>
                <a:latin typeface="Georgia"/>
                <a:ea typeface="Georgia"/>
                <a:cs typeface="Georgia"/>
                <a:sym typeface="Georgia"/>
              </a:rPr>
              <a:t>B</a:t>
            </a:r>
            <a:r>
              <a:rPr lang="en-US" sz="3411">
                <a:solidFill>
                  <a:srgbClr val="FFFFFF"/>
                </a:solidFill>
                <a:latin typeface="Georgia"/>
                <a:ea typeface="Georgia"/>
                <a:cs typeface="Georgia"/>
                <a:sym typeface="Georgia"/>
              </a:rPr>
              <a:t>erdasarkan hasil wawancara, ditemukan bahwa pengelolaan informasi stok men</a:t>
            </a:r>
            <a:r>
              <a:rPr lang="en-US" sz="3411">
                <a:solidFill>
                  <a:srgbClr val="FFFFFF"/>
                </a:solidFill>
                <a:latin typeface="Georgia"/>
                <a:ea typeface="Georgia"/>
                <a:cs typeface="Georgia"/>
                <a:sym typeface="Georgia"/>
              </a:rPr>
              <a:t>jadi salah satu kendala dalam kegiatan bisnis Elsclothyle. Oleh karena itu, diperlukan strategi pengembangan melalui website pendukung pengelolaan stok untuk meningkatkan efisiensi operasional, mempermudah pelayanan customer, dan mengurangi risiko kesalahan pesanan. Dengan solusi ini, diharapkan kegiatan bisnis Elsclothyle dapat berjalan lebih efektif dan terorganisir.</a:t>
            </a:r>
          </a:p>
        </p:txBody>
      </p:sp>
      <p:sp>
        <p:nvSpPr>
          <p:cNvPr name="Freeform 4" id="4"/>
          <p:cNvSpPr/>
          <p:nvPr/>
        </p:nvSpPr>
        <p:spPr>
          <a:xfrm flipH="false" flipV="false" rot="4160620">
            <a:off x="-749912" y="9974378"/>
            <a:ext cx="1627529" cy="1433559"/>
          </a:xfrm>
          <a:custGeom>
            <a:avLst/>
            <a:gdLst/>
            <a:ahLst/>
            <a:cxnLst/>
            <a:rect r="r" b="b" t="t" l="l"/>
            <a:pathLst>
              <a:path h="1433559" w="1627529">
                <a:moveTo>
                  <a:pt x="0" y="0"/>
                </a:moveTo>
                <a:lnTo>
                  <a:pt x="1627530" y="0"/>
                </a:lnTo>
                <a:lnTo>
                  <a:pt x="1627530" y="1433560"/>
                </a:lnTo>
                <a:lnTo>
                  <a:pt x="0" y="14335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5514856" y="1067126"/>
            <a:ext cx="8713993" cy="1276350"/>
          </a:xfrm>
          <a:prstGeom prst="rect">
            <a:avLst/>
          </a:prstGeom>
        </p:spPr>
        <p:txBody>
          <a:bodyPr anchor="t" rtlCol="false" tIns="0" lIns="0" bIns="0" rIns="0">
            <a:spAutoFit/>
          </a:bodyPr>
          <a:lstStyle/>
          <a:p>
            <a:pPr algn="ctr">
              <a:lnSpc>
                <a:spcPts val="10499"/>
              </a:lnSpc>
            </a:pPr>
            <a:r>
              <a:rPr lang="en-US" sz="7499" spc="202">
                <a:solidFill>
                  <a:srgbClr val="FFFFFF"/>
                </a:solidFill>
                <a:latin typeface="Abril Fatface"/>
                <a:ea typeface="Abril Fatface"/>
                <a:cs typeface="Abril Fatface"/>
                <a:sym typeface="Abril Fatface"/>
              </a:rPr>
              <a:t>Kesimpulan</a:t>
            </a:r>
          </a:p>
        </p:txBody>
      </p:sp>
      <p:sp>
        <p:nvSpPr>
          <p:cNvPr name="Freeform 6" id="6"/>
          <p:cNvSpPr/>
          <p:nvPr/>
        </p:nvSpPr>
        <p:spPr>
          <a:xfrm flipH="false" flipV="false" rot="0">
            <a:off x="-1707401" y="1820024"/>
            <a:ext cx="6051648" cy="10616926"/>
          </a:xfrm>
          <a:custGeom>
            <a:avLst/>
            <a:gdLst/>
            <a:ahLst/>
            <a:cxnLst/>
            <a:rect r="r" b="b" t="t" l="l"/>
            <a:pathLst>
              <a:path h="10616926" w="6051648">
                <a:moveTo>
                  <a:pt x="0" y="0"/>
                </a:moveTo>
                <a:lnTo>
                  <a:pt x="6051648" y="0"/>
                </a:lnTo>
                <a:lnTo>
                  <a:pt x="6051648" y="10616926"/>
                </a:lnTo>
                <a:lnTo>
                  <a:pt x="0" y="10616926"/>
                </a:lnTo>
                <a:lnTo>
                  <a:pt x="0" y="0"/>
                </a:lnTo>
                <a:close/>
              </a:path>
            </a:pathLst>
          </a:custGeom>
          <a:blipFill>
            <a:blip r:embed="rId5"/>
            <a:stretch>
              <a:fillRect l="0" t="0" r="0" b="0"/>
            </a:stretch>
          </a:blipFill>
        </p:spPr>
      </p:sp>
      <p:sp>
        <p:nvSpPr>
          <p:cNvPr name="Freeform 7" id="7"/>
          <p:cNvSpPr/>
          <p:nvPr/>
        </p:nvSpPr>
        <p:spPr>
          <a:xfrm flipH="false" flipV="false" rot="0">
            <a:off x="15147372" y="358691"/>
            <a:ext cx="2668919" cy="1638049"/>
          </a:xfrm>
          <a:custGeom>
            <a:avLst/>
            <a:gdLst/>
            <a:ahLst/>
            <a:cxnLst/>
            <a:rect r="r" b="b" t="t" l="l"/>
            <a:pathLst>
              <a:path h="1638049" w="2668919">
                <a:moveTo>
                  <a:pt x="0" y="0"/>
                </a:moveTo>
                <a:lnTo>
                  <a:pt x="2668919" y="0"/>
                </a:lnTo>
                <a:lnTo>
                  <a:pt x="2668919" y="1638049"/>
                </a:lnTo>
                <a:lnTo>
                  <a:pt x="0" y="1638049"/>
                </a:lnTo>
                <a:lnTo>
                  <a:pt x="0" y="0"/>
                </a:lnTo>
                <a:close/>
              </a:path>
            </a:pathLst>
          </a:custGeom>
          <a:blipFill>
            <a:blip r:embed="rId6"/>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3529649" y="2733173"/>
            <a:ext cx="10374170" cy="4839704"/>
          </a:xfrm>
          <a:prstGeom prst="rect">
            <a:avLst/>
          </a:prstGeom>
        </p:spPr>
        <p:txBody>
          <a:bodyPr anchor="t" rtlCol="false" tIns="0" lIns="0" bIns="0" rIns="0">
            <a:spAutoFit/>
          </a:bodyPr>
          <a:lstStyle/>
          <a:p>
            <a:pPr algn="ctr">
              <a:lnSpc>
                <a:spcPts val="19069"/>
              </a:lnSpc>
            </a:pPr>
            <a:r>
              <a:rPr lang="en-US" sz="16024" spc="432">
                <a:solidFill>
                  <a:srgbClr val="FFFFFF"/>
                </a:solidFill>
                <a:latin typeface="Abril Fatface"/>
                <a:ea typeface="Abril Fatface"/>
                <a:cs typeface="Abril Fatface"/>
                <a:sym typeface="Abril Fatface"/>
              </a:rPr>
              <a:t>Terima Kasih</a:t>
            </a:r>
          </a:p>
        </p:txBody>
      </p:sp>
      <p:sp>
        <p:nvSpPr>
          <p:cNvPr name="Freeform 4" id="4"/>
          <p:cNvSpPr/>
          <p:nvPr/>
        </p:nvSpPr>
        <p:spPr>
          <a:xfrm flipH="false" flipV="false" rot="0">
            <a:off x="-1707401" y="1820024"/>
            <a:ext cx="6051648" cy="10616926"/>
          </a:xfrm>
          <a:custGeom>
            <a:avLst/>
            <a:gdLst/>
            <a:ahLst/>
            <a:cxnLst/>
            <a:rect r="r" b="b" t="t" l="l"/>
            <a:pathLst>
              <a:path h="10616926" w="6051648">
                <a:moveTo>
                  <a:pt x="0" y="0"/>
                </a:moveTo>
                <a:lnTo>
                  <a:pt x="6051648" y="0"/>
                </a:lnTo>
                <a:lnTo>
                  <a:pt x="6051648" y="10616926"/>
                </a:lnTo>
                <a:lnTo>
                  <a:pt x="0" y="10616926"/>
                </a:lnTo>
                <a:lnTo>
                  <a:pt x="0" y="0"/>
                </a:lnTo>
                <a:close/>
              </a:path>
            </a:pathLst>
          </a:custGeom>
          <a:blipFill>
            <a:blip r:embed="rId3"/>
            <a:stretch>
              <a:fillRect l="0" t="0" r="0" b="0"/>
            </a:stretch>
          </a:blipFill>
        </p:spPr>
      </p:sp>
      <p:sp>
        <p:nvSpPr>
          <p:cNvPr name="Freeform 5" id="5"/>
          <p:cNvSpPr/>
          <p:nvPr/>
        </p:nvSpPr>
        <p:spPr>
          <a:xfrm flipH="true" flipV="false" rot="0">
            <a:off x="3992065" y="867164"/>
            <a:ext cx="2668919" cy="1638049"/>
          </a:xfrm>
          <a:custGeom>
            <a:avLst/>
            <a:gdLst/>
            <a:ahLst/>
            <a:cxnLst/>
            <a:rect r="r" b="b" t="t" l="l"/>
            <a:pathLst>
              <a:path h="1638049" w="2668919">
                <a:moveTo>
                  <a:pt x="2668919" y="0"/>
                </a:moveTo>
                <a:lnTo>
                  <a:pt x="0" y="0"/>
                </a:lnTo>
                <a:lnTo>
                  <a:pt x="0" y="1638049"/>
                </a:lnTo>
                <a:lnTo>
                  <a:pt x="2668919" y="1638049"/>
                </a:lnTo>
                <a:lnTo>
                  <a:pt x="2668919" y="0"/>
                </a:lnTo>
                <a:close/>
              </a:path>
            </a:pathLst>
          </a:custGeom>
          <a:blipFill>
            <a:blip r:embed="rId4"/>
            <a:stretch>
              <a:fillRect l="0" t="0" r="0" b="0"/>
            </a:stretch>
          </a:blipFill>
        </p:spPr>
      </p:sp>
      <p:sp>
        <p:nvSpPr>
          <p:cNvPr name="Freeform 6" id="6"/>
          <p:cNvSpPr/>
          <p:nvPr/>
        </p:nvSpPr>
        <p:spPr>
          <a:xfrm flipH="false" flipV="false" rot="0">
            <a:off x="13200890" y="7128487"/>
            <a:ext cx="3280941" cy="3456930"/>
          </a:xfrm>
          <a:custGeom>
            <a:avLst/>
            <a:gdLst/>
            <a:ahLst/>
            <a:cxnLst/>
            <a:rect r="r" b="b" t="t" l="l"/>
            <a:pathLst>
              <a:path h="3456930" w="3280941">
                <a:moveTo>
                  <a:pt x="0" y="0"/>
                </a:moveTo>
                <a:lnTo>
                  <a:pt x="3280941" y="0"/>
                </a:lnTo>
                <a:lnTo>
                  <a:pt x="3280941" y="3456930"/>
                </a:lnTo>
                <a:lnTo>
                  <a:pt x="0" y="34569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333300" y="2505213"/>
            <a:ext cx="6051176" cy="4114800"/>
          </a:xfrm>
          <a:custGeom>
            <a:avLst/>
            <a:gdLst/>
            <a:ahLst/>
            <a:cxnLst/>
            <a:rect r="r" b="b" t="t" l="l"/>
            <a:pathLst>
              <a:path h="4114800" w="6051176">
                <a:moveTo>
                  <a:pt x="0" y="0"/>
                </a:moveTo>
                <a:lnTo>
                  <a:pt x="6051176" y="0"/>
                </a:lnTo>
                <a:lnTo>
                  <a:pt x="6051176"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DAHWCJiwGOE</dc:identifier>
  <dcterms:modified xsi:type="dcterms:W3CDTF">2011-08-01T06:04:30Z</dcterms:modified>
  <cp:revision>1</cp:revision>
  <dc:title>PPT Presentasi Awal _progres_Kelompok 3</dc:title>
</cp:coreProperties>
</file>